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71" r:id="rId7"/>
    <p:sldId id="260" r:id="rId8"/>
    <p:sldId id="262" r:id="rId9"/>
    <p:sldId id="263" r:id="rId10"/>
    <p:sldId id="264" r:id="rId11"/>
    <p:sldId id="272" r:id="rId12"/>
    <p:sldId id="273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1cd7f9f3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61cd7f9f3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1cd7f9f3c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61cd7f9f3c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1cd7f9f3c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1cd7f9f3c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cd7f9f3c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cd7f9f3c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4C6C217E-3874-29D5-A64A-E7152EFD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cd7f9f3c_0_394:notes">
            <a:extLst>
              <a:ext uri="{FF2B5EF4-FFF2-40B4-BE49-F238E27FC236}">
                <a16:creationId xmlns:a16="http://schemas.microsoft.com/office/drawing/2014/main" id="{EC9241F4-5A77-29A4-5741-9652611FF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cd7f9f3c_0_394:notes">
            <a:extLst>
              <a:ext uri="{FF2B5EF4-FFF2-40B4-BE49-F238E27FC236}">
                <a16:creationId xmlns:a16="http://schemas.microsoft.com/office/drawing/2014/main" id="{7B20314F-A306-6040-AA1E-91AF3D39F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147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1cd7f9f3c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61cd7f9f3c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1cd7f9f3c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61cd7f9f3c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1cd7f9f3c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1cd7f9f3c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1cd7f9f3c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1cd7f9f3c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A41056BD-45F1-D9C4-5B9D-06FDA4C2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1cd7f9f3c_0_240:notes">
            <a:extLst>
              <a:ext uri="{FF2B5EF4-FFF2-40B4-BE49-F238E27FC236}">
                <a16:creationId xmlns:a16="http://schemas.microsoft.com/office/drawing/2014/main" id="{F82C3FC4-0D07-851A-F9EB-CCF6D65F4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1cd7f9f3c_0_240:notes">
            <a:extLst>
              <a:ext uri="{FF2B5EF4-FFF2-40B4-BE49-F238E27FC236}">
                <a16:creationId xmlns:a16="http://schemas.microsoft.com/office/drawing/2014/main" id="{4A0055CB-6359-4E73-B7C1-D687BAE31B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091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D087B09A-A6B0-D2E1-E5B4-79D48D44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1cd7f9f3c_0_240:notes">
            <a:extLst>
              <a:ext uri="{FF2B5EF4-FFF2-40B4-BE49-F238E27FC236}">
                <a16:creationId xmlns:a16="http://schemas.microsoft.com/office/drawing/2014/main" id="{39E80B37-FAFD-A26E-00C1-0CB4F608F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1cd7f9f3c_0_240:notes">
            <a:extLst>
              <a:ext uri="{FF2B5EF4-FFF2-40B4-BE49-F238E27FC236}">
                <a16:creationId xmlns:a16="http://schemas.microsoft.com/office/drawing/2014/main" id="{9B9D3B73-8891-9CF4-ABDA-31334A335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115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1cd7f9f3c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1cd7f9f3c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1cd7f9f3c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61cd7f9f3c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1cd7f9f3c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61cd7f9f3c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1cd7f9f3c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61cd7f9f3c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1cd7f9f3c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1cd7f9f3c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685800" y="367400"/>
            <a:ext cx="7772400" cy="16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Connect – 2nd Review Meeting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685800" y="1902024"/>
            <a:ext cx="7984800" cy="21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80000"/>
              </a:lnSpc>
              <a:spcBef>
                <a:spcPts val="0"/>
              </a:spcBef>
              <a:buSzPts val="2000"/>
            </a:pPr>
            <a:r>
              <a:rPr lang="en-GB" sz="2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</a:t>
            </a:r>
            <a:r>
              <a:rPr lang="en-US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Proper Maternal Health Awareness in Semi Urban Areas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GB" sz="2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11th June 2025 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GB" sz="2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03:00 PM – 04:15 PM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GB" sz="2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Himani Sah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GB" sz="2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id:</a:t>
            </a: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2023824909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 – Team &amp; Community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457200" y="808275"/>
            <a:ext cx="8229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Himani Sah</a:t>
            </a:r>
            <a:r>
              <a:rPr lang="en-GB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Field Lead (conducted all activities: community mapping, survey design, fieldwork and data analysis).</a:t>
            </a:r>
            <a:endParaRPr sz="24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68300" algn="just"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Community:</a:t>
            </a:r>
            <a:r>
              <a:rPr lang="en-GB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Sundar </a:t>
            </a:r>
            <a:r>
              <a:rPr lang="en-IN" sz="2400" dirty="0" err="1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Haraicha</a:t>
            </a:r>
            <a:endParaRPr sz="2400" dirty="0">
              <a:solidFill>
                <a:srgbClr val="323232"/>
              </a:solidFill>
            </a:endParaRPr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Observations:</a:t>
            </a:r>
            <a:r>
              <a:rPr lang="en-GB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1. </a:t>
            </a:r>
            <a:r>
              <a:rPr lang="en-GB" sz="2400" dirty="0">
                <a:solidFill>
                  <a:srgbClr val="323232"/>
                </a:solidFill>
              </a:rPr>
              <a:t>Lack of maternal health literacy</a:t>
            </a:r>
            <a:endParaRPr sz="24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2. </a:t>
            </a:r>
            <a:r>
              <a:rPr lang="en-GB" sz="2400" dirty="0">
                <a:solidFill>
                  <a:srgbClr val="323232"/>
                </a:solidFill>
              </a:rPr>
              <a:t>Cultural stigma/taboos</a:t>
            </a:r>
          </a:p>
          <a:p>
            <a:pPr marL="4572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3. Inadequate access to antenatal care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821925" y="245800"/>
            <a:ext cx="77274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Final Survey Questionnaire</a:t>
            </a:r>
            <a:r>
              <a:rPr lang="en-GB" sz="2000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5FBD6-557D-ABF7-0B46-DFB1CB70C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45" y="797550"/>
            <a:ext cx="4673110" cy="3408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E6087F-7C0F-5DE0-277F-66ECCCE35C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389"/>
          <a:stretch>
            <a:fillRect/>
          </a:stretch>
        </p:blipFill>
        <p:spPr>
          <a:xfrm>
            <a:off x="5471823" y="468630"/>
            <a:ext cx="307750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D1078-FA67-92C7-A2CF-49F0D08D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75" y="123469"/>
            <a:ext cx="3658754" cy="2419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784D7C-DE14-514C-00DD-0BCBD7764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43" y="2614614"/>
            <a:ext cx="3587817" cy="2405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E0184-44E9-606F-7B88-247AB2F52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221" y="138120"/>
            <a:ext cx="3413395" cy="2404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34EE02-BD63-FFF5-027A-F0368F49F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221" y="2614614"/>
            <a:ext cx="3348464" cy="2369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384E2235-F880-5CFE-383F-9FE0F497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2DBE9B-5178-19DC-4678-AFAD7F5CA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64" y="90570"/>
            <a:ext cx="3018136" cy="2438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E2F5EF-3EA2-4474-6588-20912708D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64" y="2614614"/>
            <a:ext cx="3084333" cy="21707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550DFA-3942-A6AA-F0CE-479EDEEF4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797" y="175434"/>
            <a:ext cx="2852791" cy="1989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D839D9-09BF-97BB-648E-5218BA84A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785" y="77788"/>
            <a:ext cx="2717363" cy="2185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C564EC-819E-ADFA-D368-DF548E19E9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711" y="2683194"/>
            <a:ext cx="4218755" cy="147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3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2–3: Field Work – Visit 1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chemeClr val="dk1"/>
              </a:solidFill>
            </a:endParaRPr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Number of residents surveyed:</a:t>
            </a:r>
            <a:r>
              <a:rPr lang="en-GB" sz="2400" dirty="0">
                <a:solidFill>
                  <a:srgbClr val="323232"/>
                </a:solidFill>
              </a:rPr>
              <a:t> 25</a:t>
            </a:r>
            <a:endParaRPr sz="2400" dirty="0"/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Data collection method:</a:t>
            </a:r>
            <a:r>
              <a:rPr lang="en-GB" sz="2400" dirty="0">
                <a:solidFill>
                  <a:srgbClr val="323232"/>
                </a:solidFill>
              </a:rPr>
              <a:t> In-person interviews and Google Forms.</a:t>
            </a:r>
            <a:endParaRPr sz="2400" dirty="0"/>
          </a:p>
          <a:p>
            <a:pPr marL="342900" indent="-368300" algn="just"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Highlights:</a:t>
            </a:r>
            <a:r>
              <a:rPr lang="en-GB" sz="2400" dirty="0">
                <a:solidFill>
                  <a:srgbClr val="323232"/>
                </a:solidFill>
              </a:rPr>
              <a:t>  </a:t>
            </a:r>
            <a:r>
              <a:rPr lang="en-GB" sz="2400" dirty="0" err="1">
                <a:solidFill>
                  <a:srgbClr val="323232"/>
                </a:solidFill>
              </a:rPr>
              <a:t>i</a:t>
            </a:r>
            <a:r>
              <a:rPr lang="en-GB" sz="2400" dirty="0">
                <a:solidFill>
                  <a:srgbClr val="323232"/>
                </a:solidFill>
              </a:rPr>
              <a:t>) </a:t>
            </a:r>
            <a:r>
              <a:rPr lang="en-US" sz="2400" dirty="0"/>
              <a:t>Strong willingness among young mothers</a:t>
            </a:r>
            <a:endParaRPr sz="2400" dirty="0">
              <a:solidFill>
                <a:srgbClr val="323232"/>
              </a:solidFill>
            </a:endParaRPr>
          </a:p>
          <a:p>
            <a:pPr marL="3429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23232"/>
                </a:solidFill>
              </a:rPr>
              <a:t>                     ii) Reluctance among elderly. 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2–3: Data Summary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6253850" y="4367900"/>
            <a:ext cx="21717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297025" y="1280250"/>
            <a:ext cx="6222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4736900" y="1257200"/>
            <a:ext cx="6222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677700" y="3349127"/>
            <a:ext cx="38943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US" sz="1600" dirty="0"/>
              <a:t>Majority of respondents are not aware of the recommended number of antenatal checkups.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5089040" y="3158354"/>
            <a:ext cx="38373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US" sz="1600" dirty="0"/>
              <a:t>Nearly half of the respondents are aware of common risks during pregnancy, but uncertainty remains high.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0F5C6-E68A-8537-669D-D5510EBFA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64" y="1245906"/>
            <a:ext cx="4151736" cy="2103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044182-4A8A-E87A-1D3B-F89E7D8C9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040" y="1200150"/>
            <a:ext cx="3971180" cy="1946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/>
        </p:nvSpPr>
        <p:spPr>
          <a:xfrm>
            <a:off x="375125" y="842400"/>
            <a:ext cx="4827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4529500" y="796300"/>
            <a:ext cx="4827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495625" y="2885600"/>
            <a:ext cx="3725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A majority of respondents (80%) have not received or attended any sessions or campaigns on maternal health awareness, indicating a significant gap in engagement or awareness.</a:t>
            </a:r>
          </a:p>
          <a:p>
            <a:r>
              <a:rPr lang="en-US" dirty="0"/>
              <a:t>Key Feedback:</a:t>
            </a:r>
          </a:p>
          <a:p>
            <a:r>
              <a:rPr lang="en-US" dirty="0"/>
              <a:t>“We hear about checkups but don’t know what to do or where to go.”</a:t>
            </a:r>
          </a:p>
          <a:p>
            <a:endParaRPr lang="en-US" sz="1600" dirty="0"/>
          </a:p>
          <a:p>
            <a:endParaRPr lang="en-US" sz="1600" dirty="0">
              <a:effectLst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5012200" y="2827400"/>
            <a:ext cx="36102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The majority of respondents (75%) prefer private clinics for pregnancy-related checkups, followed by government hospitals (50%), while local health workers (8.3%) and those not seeking care (4.2%) show minimal utilization.</a:t>
            </a:r>
            <a:endParaRPr lang="en-US" sz="16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B51CB-5293-81E6-6072-95B6413E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5" y="842400"/>
            <a:ext cx="3915653" cy="193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E0FBC-95C4-0394-5744-A036FF923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524" y="842400"/>
            <a:ext cx="3994224" cy="1938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/>
        </p:nvSpPr>
        <p:spPr>
          <a:xfrm>
            <a:off x="412250" y="588900"/>
            <a:ext cx="327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0" y="281361"/>
            <a:ext cx="54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191865" y="2351155"/>
            <a:ext cx="4498920" cy="185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The majority of respondents (40%) reported no difficulties accessing maternal health services, while 32% face consistent challenges and another 32% encounter occasional issues.</a:t>
            </a:r>
            <a:endParaRPr lang="en-US" sz="16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7725D6-7AE2-0AA3-BD59-B04206F3B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00" y="320428"/>
            <a:ext cx="4337250" cy="2001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E1E7B9-F972-76F6-CE67-6B0EBE7AE1BE}"/>
              </a:ext>
            </a:extLst>
          </p:cNvPr>
          <p:cNvSpPr txBox="1"/>
          <p:nvPr/>
        </p:nvSpPr>
        <p:spPr>
          <a:xfrm>
            <a:off x="4588980" y="23459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7CE10-B9DE-2A61-8CDC-59E65360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750" y="234596"/>
            <a:ext cx="4186792" cy="1792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5E4D5-CCF4-01C1-7A73-C991D4EE3E8F}"/>
              </a:ext>
            </a:extLst>
          </p:cNvPr>
          <p:cNvSpPr txBox="1"/>
          <p:nvPr/>
        </p:nvSpPr>
        <p:spPr>
          <a:xfrm>
            <a:off x="4924057" y="2110740"/>
            <a:ext cx="40694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majority of respondents (60%) identified financial issues and lack of information as the main challenges in accessing maternal healthcare, followed closely by poor quality of service (56%). Only 1% reported no challenges, while lack of transportation (12%) and cultural barriers (32%) were less cited.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A258DE08-D779-9AAC-E41A-59530477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>
            <a:extLst>
              <a:ext uri="{FF2B5EF4-FFF2-40B4-BE49-F238E27FC236}">
                <a16:creationId xmlns:a16="http://schemas.microsoft.com/office/drawing/2014/main" id="{2BF6D5B9-0D13-27F1-BD87-734E6D51D714}"/>
              </a:ext>
            </a:extLst>
          </p:cNvPr>
          <p:cNvSpPr txBox="1"/>
          <p:nvPr/>
        </p:nvSpPr>
        <p:spPr>
          <a:xfrm>
            <a:off x="412250" y="588900"/>
            <a:ext cx="327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>
            <a:extLst>
              <a:ext uri="{FF2B5EF4-FFF2-40B4-BE49-F238E27FC236}">
                <a16:creationId xmlns:a16="http://schemas.microsoft.com/office/drawing/2014/main" id="{45E0CA94-F245-DA61-33DB-512DF77DB8A4}"/>
              </a:ext>
            </a:extLst>
          </p:cNvPr>
          <p:cNvSpPr txBox="1"/>
          <p:nvPr/>
        </p:nvSpPr>
        <p:spPr>
          <a:xfrm>
            <a:off x="0" y="281361"/>
            <a:ext cx="54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B5F64450-CACA-89E8-B533-60B5B0D7C23F}"/>
              </a:ext>
            </a:extLst>
          </p:cNvPr>
          <p:cNvSpPr txBox="1"/>
          <p:nvPr/>
        </p:nvSpPr>
        <p:spPr>
          <a:xfrm>
            <a:off x="191865" y="2351155"/>
            <a:ext cx="4498920" cy="185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The majority of respondents (44%) believe postnatal care is given importance in their area, while 24% disagree and 32% are unsure, indicating varied perceptions.</a:t>
            </a:r>
            <a:endParaRPr lang="en-US" sz="16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4138B-1F09-446E-37FB-7455C7705DE3}"/>
              </a:ext>
            </a:extLst>
          </p:cNvPr>
          <p:cNvSpPr txBox="1"/>
          <p:nvPr/>
        </p:nvSpPr>
        <p:spPr>
          <a:xfrm>
            <a:off x="4750517" y="2205356"/>
            <a:ext cx="40694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majority of respondents (44%) reported that husbands/families are always supportive during and after pregnancy, while 36% said sometimes, 24% rarely, and only 4% noted not at all.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43E570-76FA-3ECE-C3D8-2DA35ABA9CA5}"/>
              </a:ext>
            </a:extLst>
          </p:cNvPr>
          <p:cNvSpPr txBox="1"/>
          <p:nvPr/>
        </p:nvSpPr>
        <p:spPr>
          <a:xfrm>
            <a:off x="4465320" y="281361"/>
            <a:ext cx="428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25EC4-385D-DD76-224A-8C0EE545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01" y="309129"/>
            <a:ext cx="4192620" cy="1888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49A30-4E7D-5A79-20AE-835587E11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17" y="281361"/>
            <a:ext cx="4062980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7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823E8B20-5D5A-4A46-9F02-7A4CC669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>
            <a:extLst>
              <a:ext uri="{FF2B5EF4-FFF2-40B4-BE49-F238E27FC236}">
                <a16:creationId xmlns:a16="http://schemas.microsoft.com/office/drawing/2014/main" id="{23796CBA-2B9D-9645-DE03-5FCB123E27E3}"/>
              </a:ext>
            </a:extLst>
          </p:cNvPr>
          <p:cNvSpPr txBox="1"/>
          <p:nvPr/>
        </p:nvSpPr>
        <p:spPr>
          <a:xfrm>
            <a:off x="412250" y="588900"/>
            <a:ext cx="327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>
            <a:extLst>
              <a:ext uri="{FF2B5EF4-FFF2-40B4-BE49-F238E27FC236}">
                <a16:creationId xmlns:a16="http://schemas.microsoft.com/office/drawing/2014/main" id="{F808A6D0-DE6A-BE16-5B87-FBEF5DEF3155}"/>
              </a:ext>
            </a:extLst>
          </p:cNvPr>
          <p:cNvSpPr txBox="1"/>
          <p:nvPr/>
        </p:nvSpPr>
        <p:spPr>
          <a:xfrm>
            <a:off x="0" y="281361"/>
            <a:ext cx="54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B7A52204-C3DC-1E9B-075D-8D324A4D964E}"/>
              </a:ext>
            </a:extLst>
          </p:cNvPr>
          <p:cNvSpPr txBox="1"/>
          <p:nvPr/>
        </p:nvSpPr>
        <p:spPr>
          <a:xfrm>
            <a:off x="191865" y="2351155"/>
            <a:ext cx="4498920" cy="185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The majority of respondents (72%) prefer receiving maternal health information via mobile apps or WhatsApp, followed by awareness sessions in the community (56%), while posters/leaflets (24%), radio/TV (20%), and health workers (24%) are less favored.</a:t>
            </a:r>
          </a:p>
          <a:p>
            <a:r>
              <a:rPr lang="en-US" sz="1600" dirty="0"/>
              <a:t>.</a:t>
            </a:r>
            <a:endParaRPr lang="en-US" sz="16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D1FB2-752A-3C5A-02B3-D8D73873F749}"/>
              </a:ext>
            </a:extLst>
          </p:cNvPr>
          <p:cNvSpPr txBox="1"/>
          <p:nvPr/>
        </p:nvSpPr>
        <p:spPr>
          <a:xfrm>
            <a:off x="4750517" y="2224791"/>
            <a:ext cx="40694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majority of respondents (72%) expressed interest in a simple tool explaining pregnancy care and government support, while 16% showed no interest and 12% were undecided.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384A6-7BB4-6634-08CD-474C7B801220}"/>
              </a:ext>
            </a:extLst>
          </p:cNvPr>
          <p:cNvSpPr txBox="1"/>
          <p:nvPr/>
        </p:nvSpPr>
        <p:spPr>
          <a:xfrm>
            <a:off x="4465320" y="281361"/>
            <a:ext cx="428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62D2D-FB63-AD92-3673-F042FBB62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1" y="281361"/>
            <a:ext cx="4229813" cy="1923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0BFB2D-9009-70AD-16F0-6AEB0F6EA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785" y="255510"/>
            <a:ext cx="4129217" cy="192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38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3232"/>
                </a:solidFill>
              </a:rPr>
              <a:t>     </a:t>
            </a:r>
            <a:r>
              <a:rPr lang="en-GB" sz="2500" b="1" dirty="0">
                <a:solidFill>
                  <a:srgbClr val="323232"/>
                </a:solidFill>
              </a:rPr>
              <a:t> </a:t>
            </a:r>
            <a:r>
              <a:rPr lang="en-GB" sz="2900" b="1" u="sng" dirty="0">
                <a:solidFill>
                  <a:srgbClr val="323232"/>
                </a:solidFill>
              </a:rPr>
              <a:t>Top 3 Issues Identified:</a:t>
            </a:r>
            <a:endParaRPr sz="2900" b="1" u="sng" dirty="0">
              <a:solidFill>
                <a:srgbClr val="32323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900" b="1" u="sng" dirty="0">
              <a:solidFill>
                <a:srgbClr val="323232"/>
              </a:solidFill>
            </a:endParaRPr>
          </a:p>
          <a:p>
            <a:pPr indent="0">
              <a:buSzPts val="1100"/>
              <a:buNone/>
            </a:pPr>
            <a:r>
              <a:rPr lang="en-GB" sz="2400" dirty="0">
                <a:solidFill>
                  <a:srgbClr val="323232"/>
                </a:solidFill>
              </a:rPr>
              <a:t>1. </a:t>
            </a:r>
            <a:r>
              <a:rPr lang="en-US" sz="2400" dirty="0"/>
              <a:t>Lack of proper maternal health awareness</a:t>
            </a:r>
            <a:endParaRPr sz="2400" dirty="0"/>
          </a:p>
          <a:p>
            <a:pPr indent="0">
              <a:buSzPts val="1100"/>
              <a:buNone/>
            </a:pPr>
            <a:r>
              <a:rPr lang="en-GB" sz="2400" dirty="0">
                <a:solidFill>
                  <a:srgbClr val="323232"/>
                </a:solidFill>
              </a:rPr>
              <a:t>2. </a:t>
            </a:r>
            <a:r>
              <a:rPr lang="en-US" sz="2400" dirty="0"/>
              <a:t>Limited understanding of available services and resources</a:t>
            </a:r>
            <a:endParaRPr sz="2400" dirty="0"/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dirty="0">
                <a:solidFill>
                  <a:srgbClr val="323232"/>
                </a:solidFill>
              </a:rPr>
              <a:t>3. Misinformation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2–3: Community Visit 2</a:t>
            </a:r>
            <a:endParaRPr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dirty="0">
                <a:solidFill>
                  <a:srgbClr val="323232"/>
                </a:solidFill>
              </a:rPr>
              <a:t>Validation of key problems done via follow-up interviews.</a:t>
            </a:r>
            <a:endParaRPr sz="2400" dirty="0"/>
          </a:p>
          <a:p>
            <a:pPr marL="342900" indent="-368300" algn="just"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Community feedback: </a:t>
            </a:r>
            <a:r>
              <a:rPr lang="en-GB" sz="2400" dirty="0">
                <a:solidFill>
                  <a:srgbClr val="323232"/>
                </a:solidFill>
              </a:rPr>
              <a:t>‘</a:t>
            </a:r>
            <a:r>
              <a:rPr lang="en-US" sz="2400" dirty="0"/>
              <a:t>Need someone to educate us on maternal health practices and resources</a:t>
            </a:r>
            <a:r>
              <a:rPr lang="en-GB" sz="2400" dirty="0">
                <a:solidFill>
                  <a:srgbClr val="323232"/>
                </a:solidFill>
              </a:rPr>
              <a:t>.’– Local resident</a:t>
            </a:r>
            <a:endParaRPr sz="2400" dirty="0"/>
          </a:p>
          <a:p>
            <a:pPr marL="342900" indent="-368300" algn="just"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Finalized Issue:</a:t>
            </a:r>
            <a:r>
              <a:rPr lang="en-GB" sz="2400" dirty="0">
                <a:solidFill>
                  <a:srgbClr val="323232"/>
                </a:solidFill>
              </a:rPr>
              <a:t> </a:t>
            </a:r>
            <a:r>
              <a:rPr lang="en-US" sz="2400" dirty="0"/>
              <a:t>Lack of proper maternal health awareness in semi-urban areas.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6"/>
          <p:cNvSpPr txBox="1">
            <a:spLocks noGrp="1"/>
          </p:cNvSpPr>
          <p:nvPr>
            <p:ph type="body" idx="1"/>
          </p:nvPr>
        </p:nvSpPr>
        <p:spPr>
          <a:xfrm>
            <a:off x="457200" y="808275"/>
            <a:ext cx="8229600" cy="3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342900" lvl="0" indent="-368300" algn="just">
              <a:buClr>
                <a:srgbClr val="323232"/>
              </a:buClr>
              <a:buSzPts val="2400"/>
            </a:pPr>
            <a:r>
              <a:rPr lang="en-GB" sz="2400" b="1" dirty="0">
                <a:solidFill>
                  <a:srgbClr val="323232"/>
                </a:solidFill>
              </a:rPr>
              <a:t>Final Statement:</a:t>
            </a:r>
            <a:r>
              <a:rPr lang="en-GB" sz="2400" dirty="0">
                <a:solidFill>
                  <a:srgbClr val="323232"/>
                </a:solidFill>
              </a:rPr>
              <a:t> </a:t>
            </a:r>
            <a:r>
              <a:rPr lang="en-US" sz="2400" dirty="0"/>
              <a:t>Lack of Proper Maternal Health Awareness in Semi Urban Areas </a:t>
            </a:r>
          </a:p>
          <a:p>
            <a:pPr marL="342900" lvl="0" indent="-368300" algn="just">
              <a:buClr>
                <a:srgbClr val="323232"/>
              </a:buClr>
              <a:buSzPts val="2400"/>
            </a:pPr>
            <a:r>
              <a:rPr lang="en-GB" sz="2400" b="1" dirty="0">
                <a:solidFill>
                  <a:srgbClr val="323232"/>
                </a:solidFill>
              </a:rPr>
              <a:t>Aligned SDG Goal:</a:t>
            </a:r>
            <a:r>
              <a:rPr lang="en-GB" sz="2400" dirty="0">
                <a:solidFill>
                  <a:srgbClr val="323232"/>
                </a:solidFill>
              </a:rPr>
              <a:t> </a:t>
            </a:r>
            <a:r>
              <a:rPr lang="en-GB" sz="2400" dirty="0" err="1">
                <a:solidFill>
                  <a:srgbClr val="323232"/>
                </a:solidFill>
              </a:rPr>
              <a:t>i</a:t>
            </a:r>
            <a:r>
              <a:rPr lang="en-GB" sz="2400" dirty="0">
                <a:solidFill>
                  <a:srgbClr val="323232"/>
                </a:solidFill>
              </a:rPr>
              <a:t>)  Goal 3 – Good Health and Well-being</a:t>
            </a:r>
            <a:endParaRPr sz="2400" dirty="0">
              <a:solidFill>
                <a:srgbClr val="323232"/>
              </a:solidFill>
            </a:endParaRPr>
          </a:p>
          <a:p>
            <a:pPr marL="3429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23232"/>
                </a:solidFill>
              </a:rPr>
              <a:t>                                  ii) Goal 10 – Reduced Inequalities</a:t>
            </a:r>
            <a:endParaRPr sz="2400" dirty="0"/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 dirty="0">
                <a:solidFill>
                  <a:srgbClr val="323232"/>
                </a:solidFill>
              </a:rPr>
              <a:t>Relevance:</a:t>
            </a:r>
            <a:r>
              <a:rPr lang="en-GB" sz="2400" dirty="0">
                <a:solidFill>
                  <a:srgbClr val="323232"/>
                </a:solidFill>
              </a:rPr>
              <a:t> Low awareness leads to-</a:t>
            </a:r>
            <a:endParaRPr lang="en-US" sz="2400" dirty="0">
              <a:solidFill>
                <a:srgbClr val="323232"/>
              </a:solidFill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rgbClr val="323232"/>
                </a:solidFill>
              </a:rPr>
              <a:t>                 </a:t>
            </a:r>
            <a:r>
              <a:rPr lang="en-US" sz="2400" dirty="0" err="1">
                <a:solidFill>
                  <a:srgbClr val="323232"/>
                </a:solidFill>
              </a:rPr>
              <a:t>i</a:t>
            </a:r>
            <a:r>
              <a:rPr lang="en-US" sz="2400" dirty="0">
                <a:solidFill>
                  <a:srgbClr val="323232"/>
                </a:solidFill>
              </a:rPr>
              <a:t>) </a:t>
            </a:r>
            <a:r>
              <a:rPr lang="en-US" sz="2400" dirty="0"/>
              <a:t>Missed maternal health opportunities</a:t>
            </a:r>
          </a:p>
          <a:p>
            <a:pPr indent="457200" algn="just">
              <a:buNone/>
            </a:pPr>
            <a:r>
              <a:rPr lang="en-GB" sz="2400" dirty="0">
                <a:solidFill>
                  <a:srgbClr val="323232"/>
                </a:solidFill>
              </a:rPr>
              <a:t>      ii) </a:t>
            </a:r>
            <a:r>
              <a:rPr lang="en-IN" sz="2400" dirty="0"/>
              <a:t>Increased health risks</a:t>
            </a:r>
          </a:p>
          <a:p>
            <a:pPr indent="457200" algn="just">
              <a:buNone/>
            </a:pPr>
            <a:r>
              <a:rPr lang="en-IN" sz="2400" dirty="0">
                <a:solidFill>
                  <a:srgbClr val="323232"/>
                </a:solidFill>
              </a:rPr>
              <a:t>      </a:t>
            </a:r>
            <a:r>
              <a:rPr lang="en-GB" sz="2400" dirty="0">
                <a:solidFill>
                  <a:srgbClr val="323232"/>
                </a:solidFill>
              </a:rPr>
              <a:t>iii) </a:t>
            </a:r>
            <a:r>
              <a:rPr lang="en-US" sz="2400" dirty="0"/>
              <a:t>Limited access to healthcare resources</a:t>
            </a:r>
          </a:p>
          <a:p>
            <a:pPr marL="914400" lvl="0" indent="45720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en-GB" sz="3200" b="1" u="sng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Readiness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xfrm>
            <a:off x="457200" y="922575"/>
            <a:ext cx="8229600" cy="3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>
              <a:solidFill>
                <a:schemeClr val="dk1"/>
              </a:solidFill>
            </a:endParaRPr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>
                <a:solidFill>
                  <a:srgbClr val="323232"/>
                </a:solidFill>
              </a:rPr>
              <a:t>Summary:</a:t>
            </a:r>
            <a:r>
              <a:rPr lang="en-GB" sz="2400">
                <a:solidFill>
                  <a:srgbClr val="323232"/>
                </a:solidFill>
              </a:rPr>
              <a:t> i)  Community mapped</a:t>
            </a:r>
            <a:endParaRPr sz="2400">
              <a:solidFill>
                <a:srgbClr val="323232"/>
              </a:solidFill>
            </a:endParaRPr>
          </a:p>
          <a:p>
            <a:pPr marL="0" lvl="0" indent="45720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23232"/>
                </a:solidFill>
              </a:rPr>
              <a:t>                 ii)  Surveys conducted</a:t>
            </a:r>
            <a:endParaRPr sz="2400">
              <a:solidFill>
                <a:srgbClr val="323232"/>
              </a:solidFill>
            </a:endParaRPr>
          </a:p>
          <a:p>
            <a:pPr marL="0" lvl="0" indent="45720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23232"/>
                </a:solidFill>
              </a:rPr>
              <a:t>                iii)  Issues validated</a:t>
            </a:r>
            <a:endParaRPr sz="2400">
              <a:solidFill>
                <a:srgbClr val="323232"/>
              </a:solidFill>
            </a:endParaRPr>
          </a:p>
          <a:p>
            <a:pPr marL="0" lvl="0" indent="45720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23232"/>
                </a:solidFill>
              </a:rPr>
              <a:t>                iv)  Problem identified.</a:t>
            </a:r>
            <a:endParaRPr sz="2400"/>
          </a:p>
          <a:p>
            <a:pPr marL="342900" lvl="0" indent="-368300" algn="just" rtl="0">
              <a:spcBef>
                <a:spcPts val="400"/>
              </a:spcBef>
              <a:spcAft>
                <a:spcPts val="0"/>
              </a:spcAft>
              <a:buClr>
                <a:srgbClr val="323232"/>
              </a:buClr>
              <a:buSzPts val="2400"/>
              <a:buFont typeface="Times New Roman"/>
              <a:buAutoNum type="arabicPeriod"/>
            </a:pPr>
            <a:r>
              <a:rPr lang="en-GB" sz="2400" b="1">
                <a:solidFill>
                  <a:srgbClr val="323232"/>
                </a:solidFill>
              </a:rPr>
              <a:t>Next Steps:</a:t>
            </a:r>
            <a:r>
              <a:rPr lang="en-GB" sz="2400">
                <a:solidFill>
                  <a:srgbClr val="323232"/>
                </a:solidFill>
              </a:rPr>
              <a:t> Design awareness tool (multilingual, visual, accessible).</a:t>
            </a:r>
            <a:endParaRPr sz="2400"/>
          </a:p>
          <a:p>
            <a:pPr marL="3429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8"/>
          <p:cNvSpPr txBox="1">
            <a:spLocks noGrp="1"/>
          </p:cNvSpPr>
          <p:nvPr>
            <p:ph type="body" idx="1"/>
          </p:nvPr>
        </p:nvSpPr>
        <p:spPr>
          <a:xfrm>
            <a:off x="457200" y="205975"/>
            <a:ext cx="8229600" cy="438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7200"/>
          </a:p>
          <a:p>
            <a:pPr marL="91440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200"/>
              <a:t>    Thank You!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On-screen Show (16:9)</PresentationFormat>
  <Paragraphs>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Simple Light</vt:lpstr>
      <vt:lpstr>Office Theme</vt:lpstr>
      <vt:lpstr>Community Connect – 2nd Review Meeting</vt:lpstr>
      <vt:lpstr>Week 1 – Team &amp; Community</vt:lpstr>
      <vt:lpstr>PowerPoint Presentation</vt:lpstr>
      <vt:lpstr>PowerPoint Presentation</vt:lpstr>
      <vt:lpstr>PowerPoint Presentation</vt:lpstr>
      <vt:lpstr>Week 2–3: Field Work – Visit 1</vt:lpstr>
      <vt:lpstr>Week 2–3: Data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2–3: Community Visit 2</vt:lpstr>
      <vt:lpstr>Problem Statement</vt:lpstr>
      <vt:lpstr>Conclusion &amp; Readiness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Himani Sah</dc:creator>
  <cp:lastModifiedBy>Himani Sah</cp:lastModifiedBy>
  <cp:revision>1</cp:revision>
  <dcterms:modified xsi:type="dcterms:W3CDTF">2025-06-11T07:34:45Z</dcterms:modified>
</cp:coreProperties>
</file>